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Hospitals</c:v>
                </c:pt>
              </c:strCache>
            </c:strRef>
          </c:tx>
          <c:spPr>
            <a:solidFill>
              <a:srgbClr val="3D8B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Star</c:v>
                  </c:pt>
                  <c:pt idx="1">
                    <c:v>2 Stars</c:v>
                  </c:pt>
                  <c:pt idx="2">
                    <c:v>3 Stars</c:v>
                  </c:pt>
                  <c:pt idx="3">
                    <c:v>4 Stars</c:v>
                  </c:pt>
                  <c:pt idx="4">
                    <c:v>5 Stars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275</c:v>
                </c:pt>
                <c:pt idx="1">
                  <c:v>583</c:v>
                </c:pt>
                <c:pt idx="2">
                  <c:v>816</c:v>
                </c:pt>
                <c:pt idx="3">
                  <c:v>758</c:v>
                </c:pt>
                <c:pt idx="4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9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1FA9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Utah</c:v>
                  </c:pt>
                  <c:pt idx="1">
                    <c:v>South Dakota</c:v>
                  </c:pt>
                  <c:pt idx="2">
                    <c:v>Colorado</c:v>
                  </c:pt>
                  <c:pt idx="3">
                    <c:v>Minnesota</c:v>
                  </c:pt>
                  <c:pt idx="4">
                    <c:v>Wisconsin</c:v>
                  </c:pt>
                  <c:pt idx="5">
                    <c:v>Idaho</c:v>
                  </c:pt>
                  <c:pt idx="6">
                    <c:v>Montana</c:v>
                  </c:pt>
                  <c:pt idx="7">
                    <c:v>Ohio</c:v>
                  </c:pt>
                  <c:pt idx="8">
                    <c:v>Delaware</c:v>
                  </c:pt>
                  <c:pt idx="9">
                    <c:v>Nebraska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4.29</c:v>
                </c:pt>
                <c:pt idx="1">
                  <c:v>4.23</c:v>
                </c:pt>
                <c:pt idx="2">
                  <c:v>4.02</c:v>
                </c:pt>
                <c:pt idx="3">
                  <c:v>3.95</c:v>
                </c:pt>
                <c:pt idx="4">
                  <c:v>3.89</c:v>
                </c:pt>
                <c:pt idx="5">
                  <c:v>3.88</c:v>
                </c:pt>
                <c:pt idx="6">
                  <c:v>3.81</c:v>
                </c:pt>
                <c:pt idx="7">
                  <c:v>3.61</c:v>
                </c:pt>
                <c:pt idx="8">
                  <c:v>3.57</c:v>
                </c:pt>
                <c:pt idx="9">
                  <c:v>3.56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329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Better</c:v>
                </c:pt>
              </c:strCache>
            </c:strRef>
          </c:tx>
          <c:spPr>
            <a:solidFill>
              <a:srgbClr val="1FA98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4B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Mortality</c:v>
                  </c:pt>
                  <c:pt idx="1">
                    <c:v>Safety</c:v>
                  </c:pt>
                  <c:pt idx="2">
                    <c:v>Readmissions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17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Different</c:v>
                </c:pt>
              </c:strCache>
            </c:strRef>
          </c:tx>
          <c:spPr>
            <a:solidFill>
              <a:srgbClr val="D8E0E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4B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Mortality</c:v>
                  </c:pt>
                  <c:pt idx="1">
                    <c:v>Safety</c:v>
                  </c:pt>
                  <c:pt idx="2">
                    <c:v>Readmissions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</c:v>
                </c:pt>
                <c:pt idx="1">
                  <c:v>80</c:v>
                </c:pt>
                <c:pt idx="2">
                  <c:v>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Worse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94B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Mortality</c:v>
                  </c:pt>
                  <c:pt idx="1">
                    <c:v>Safety</c:v>
                  </c:pt>
                  <c:pt idx="2">
                    <c:v>Readmissions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3294B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0432" y="186537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Analysis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21579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 &amp; dataset snapshot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1FA98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29169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320954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 &amp; rating distribution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396849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426110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patterns across states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93208"/>
            <a:ext cx="457200" cy="457200"/>
          </a:xfrm>
          <a:prstGeom prst="ellipse">
            <a:avLst/>
          </a:prstGeom>
          <a:solidFill>
            <a:srgbClr val="6A5AC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502005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Measure Details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531266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Mortality, safety &amp; readmissions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193852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02552" y="186537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Details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02552" y="21579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into an individual hospital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990088"/>
            <a:ext cx="457200" cy="45720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02552" y="29169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Insights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02552" y="320954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modeling for improvement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0760" y="4041648"/>
            <a:ext cx="457200" cy="457200"/>
          </a:xfrm>
          <a:prstGeom prst="ellipse">
            <a:avLst/>
          </a:prstGeom>
          <a:solidFill>
            <a:srgbClr val="1FA98F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02552" y="396849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02552" y="426110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action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PERFORMANCE &amp; QUALITY ANALYTICS  |  CAPSTONE PROJECT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01200" y="654710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Hospital Data into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a national hospital general-information dataset covering facility demographics, ownership, and CMS-style quality measures, to help identify where care is strong, where it varies, and where targeted improvement will have the greatest impact.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28254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Performance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70432" y="309981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hospitals rate overall and by quality domain.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593592"/>
            <a:ext cx="457200" cy="457200"/>
          </a:xfrm>
          <a:prstGeom prst="ellipse">
            <a:avLst/>
          </a:prstGeom>
          <a:solidFill>
            <a:srgbClr val="1FA98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5387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Opportunities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70432" y="3813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where variation signals room to improve.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42519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Improvement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70432" y="4526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scenarios that raise performance.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020056"/>
            <a:ext cx="457200" cy="457200"/>
          </a:xfrm>
          <a:prstGeom prst="ellipse">
            <a:avLst/>
          </a:prstGeom>
          <a:solidFill>
            <a:srgbClr val="6A5AC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49651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Healthier Tomorrow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70432" y="52395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insight into patient-centered action.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37960" y="1371600"/>
            <a:ext cx="5074920" cy="4983480"/>
          </a:xfrm>
          <a:prstGeom prst="roundRect">
            <a:avLst>
              <a:gd name="adj" fmla="val 1468"/>
            </a:avLst>
          </a:prstGeom>
          <a:solidFill>
            <a:srgbClr val="0A2647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627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8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5,384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458200" y="2112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nationwide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2724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8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58200" y="27523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types tracked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33649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8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458200" y="33924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categories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4005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8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458200" y="4032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domains — Mortality, Safety, Readmissions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4690872"/>
            <a:ext cx="4389120" cy="0"/>
          </a:xfrm>
          <a:prstGeom prst="line">
            <a:avLst/>
          </a:prstGeom>
          <a:noFill/>
          <a:ln w="12700">
            <a:solidFill>
              <a:srgbClr val="244B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484632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analyzed include hospital demographics &amp; ownership, emergency-service availability, birthing-friendly designation, overall star rating, and detailed mortality, safety, readmission, patient-experience and timely-care measure counts.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PERFORMANCE &amp; QUALITY ANALYTICS  |  CAPSTONE PROJECT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601200" y="654710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Performance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9AB0C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73352"/>
            <a:ext cx="128016" cy="128016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5,384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Hospitals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5087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9AB0CC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84448" y="1673352"/>
            <a:ext cx="128016" cy="128016"/>
          </a:xfrm>
          <a:prstGeom prst="ellipse">
            <a:avLst/>
          </a:prstGeom>
          <a:solidFill>
            <a:srgbClr val="1FA98F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18745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3.14 / 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84448" y="24414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Hospital Rating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5087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9AB0CC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91656" y="1673352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656" y="18745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91656" y="24414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High-Performing (≥ 4 ★)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70264" y="15087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9AB0CC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98864" y="1673352"/>
            <a:ext cx="128016" cy="128016"/>
          </a:xfrm>
          <a:prstGeom prst="ellipse">
            <a:avLst/>
          </a:prstGeom>
          <a:solidFill>
            <a:srgbClr val="6A5ACD"/>
          </a:solidFill>
          <a:ln/>
        </p:spPr>
      </p:sp>
      <p:sp>
        <p:nvSpPr>
          <p:cNvPr id="18" name="Text 16"/>
          <p:cNvSpPr/>
          <p:nvPr/>
        </p:nvSpPr>
        <p:spPr>
          <a:xfrm>
            <a:off x="9198864" y="18745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41.4%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98864" y="24414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Birthing-Friendly Designated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999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 by Overall Rating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3364992"/>
          <a:ext cx="57607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537960" y="2999232"/>
            <a:ext cx="5074920" cy="3429000"/>
          </a:xfrm>
          <a:prstGeom prst="roundRect">
            <a:avLst>
              <a:gd name="adj" fmla="val 2133"/>
            </a:avLst>
          </a:prstGeom>
          <a:solidFill>
            <a:srgbClr val="0A2647"/>
          </a:solidFill>
          <a:ln/>
        </p:spPr>
      </p:sp>
      <p:sp>
        <p:nvSpPr>
          <p:cNvPr id="23" name="Text 20"/>
          <p:cNvSpPr/>
          <p:nvPr/>
        </p:nvSpPr>
        <p:spPr>
          <a:xfrm>
            <a:off x="690372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DISTRIBUTION SHOWS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03720" y="3749040"/>
            <a:ext cx="91440" cy="914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5" name="Text 22"/>
          <p:cNvSpPr/>
          <p:nvPr/>
        </p:nvSpPr>
        <p:spPr>
          <a:xfrm>
            <a:off x="7178040" y="36301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hospitals cluster in the 3–star band, with 816 facilities — the largest single group.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903720" y="4434840"/>
            <a:ext cx="91440" cy="91440"/>
          </a:xfrm>
          <a:prstGeom prst="ellipse">
            <a:avLst/>
          </a:prstGeom>
          <a:solidFill>
            <a:srgbClr val="1FA98F"/>
          </a:solidFill>
          <a:ln/>
        </p:spPr>
      </p:sp>
      <p:sp>
        <p:nvSpPr>
          <p:cNvPr id="27" name="Text 24"/>
          <p:cNvSpPr/>
          <p:nvPr/>
        </p:nvSpPr>
        <p:spPr>
          <a:xfrm>
            <a:off x="7178040" y="43159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758 hospitals (14%) already earn 4 stars, and 380 more reach the top 5-star tier.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903720" y="5120640"/>
            <a:ext cx="91440" cy="914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9" name="Text 26"/>
          <p:cNvSpPr/>
          <p:nvPr/>
        </p:nvSpPr>
        <p:spPr>
          <a:xfrm>
            <a:off x="7178040" y="50017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hospitals sit at 1 star, a small but important group for targeted support.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903720" y="5806440"/>
            <a:ext cx="91440" cy="91440"/>
          </a:xfrm>
          <a:prstGeom prst="ellipse">
            <a:avLst/>
          </a:prstGeom>
          <a:solidFill>
            <a:srgbClr val="6A5ACD"/>
          </a:solidFill>
          <a:ln/>
        </p:spPr>
      </p:sp>
      <p:sp>
        <p:nvSpPr>
          <p:cNvPr id="31" name="Text 28"/>
          <p:cNvSpPr/>
          <p:nvPr/>
        </p:nvSpPr>
        <p:spPr>
          <a:xfrm>
            <a:off x="7178040" y="56875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care quality is solid but uneven — exactly the variation this project set out to quantify.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PERFORMANCE &amp; QUALITY ANALYTICS  |  CAPSTONE PROJECT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9601200" y="654710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Varies Across States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States by Average Hospital Rating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783080"/>
          <a:ext cx="585216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4173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3F6F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0" y="1627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0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86600" y="199339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5,384 hospitals are included in the analysis, spanning every U.S. state and territory.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86600" y="245059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hospital rating nationwide is 3.14 out of 5.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926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086600" y="290779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Utah leads at 4.29, followed by South Dakota at 4.23 — useful performance benchmarks.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0" y="3383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86600" y="336499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distribution and rating levels both vary meaningfully by state.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37960" y="3977640"/>
            <a:ext cx="5074920" cy="2423160"/>
          </a:xfrm>
          <a:prstGeom prst="roundRect">
            <a:avLst>
              <a:gd name="adj" fmla="val 3019"/>
            </a:avLst>
          </a:prstGeom>
          <a:solidFill>
            <a:srgbClr val="0A2647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4187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0" y="4572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086600" y="455371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Higher-rated states can serve as benchmarks for hospital performance.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58000" y="51389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86600" y="5120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 helps identify disparities in access, resources and quality.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858000" y="570585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086600" y="56875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 (in the live dashboard) enable focused analysis by hospital, state and ownership.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PERFORMANCE &amp; QUALITY ANALYTICS  |  CAPSTONE PROJECT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601200" y="654710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MEASURE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Better, No Different &amp; Worse by Domain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4922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46304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F3F6FB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98080" y="20116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shows the share of measures in a domain where hospitals performed better, no different, or worse than the national benchmark.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0" y="2953512"/>
            <a:ext cx="118872" cy="118872"/>
          </a:xfrm>
          <a:prstGeom prst="ellipse">
            <a:avLst/>
          </a:prstGeom>
          <a:solidFill>
            <a:srgbClr val="1FA98F"/>
          </a:solidFill>
          <a:ln/>
        </p:spPr>
      </p:sp>
      <p:sp>
        <p:nvSpPr>
          <p:cNvPr id="9" name="Text 6"/>
          <p:cNvSpPr/>
          <p:nvPr/>
        </p:nvSpPr>
        <p:spPr>
          <a:xfrm>
            <a:off x="7726680" y="2871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0" y="3154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of safety measures score better than benchmark — the strongest “better” share of the three domains.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98080" y="3913632"/>
            <a:ext cx="118872" cy="118872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2" name="Text 9"/>
          <p:cNvSpPr/>
          <p:nvPr/>
        </p:nvSpPr>
        <p:spPr>
          <a:xfrm>
            <a:off x="7726680" y="3831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98080" y="4114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readmission measures score worse — the highest “worse” share, and the clearest improvement target.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98080" y="4873752"/>
            <a:ext cx="118872" cy="118872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5" name="Text 12"/>
          <p:cNvSpPr/>
          <p:nvPr/>
        </p:nvSpPr>
        <p:spPr>
          <a:xfrm>
            <a:off x="7726680" y="4791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Mortality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498080" y="5074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of mortality measures show no significant difference — largely stable, benchmark-level performance.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98080" y="5806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counts in the “worse” category highlight opportunities for quality improvement.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PERFORMANCE &amp; QUALITY ANALYTICS  |  CAPSTONE PROJECT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9601200" y="654710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Drilling Into a Single Hospital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dashboard lets a user select any one of the 5,384 hospitals and instantly see its full quality profile alongside national benchmarks.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0A26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86000"/>
            <a:ext cx="128016" cy="128016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231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Hospital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786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or pick from 5,384 facilities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210312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0A2647"/>
          </a:solidFill>
          <a:ln/>
        </p:spPr>
      </p:sp>
      <p:sp>
        <p:nvSpPr>
          <p:cNvPr id="10" name="Shape 8"/>
          <p:cNvSpPr/>
          <p:nvPr/>
        </p:nvSpPr>
        <p:spPr>
          <a:xfrm>
            <a:off x="3538728" y="2286000"/>
            <a:ext cx="128016" cy="128016"/>
          </a:xfrm>
          <a:prstGeom prst="ellipse">
            <a:avLst/>
          </a:prstGeom>
          <a:solidFill>
            <a:srgbClr val="1FA98F"/>
          </a:solidFill>
          <a:ln/>
        </p:spPr>
      </p:sp>
      <p:sp>
        <p:nvSpPr>
          <p:cNvPr id="11" name="Text 9"/>
          <p:cNvSpPr/>
          <p:nvPr/>
        </p:nvSpPr>
        <p:spPr>
          <a:xfrm>
            <a:off x="3758184" y="2231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Rating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38728" y="25786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 CMS-style rating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63056" y="210312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0A2647"/>
          </a:solidFill>
          <a:ln/>
        </p:spPr>
      </p:sp>
      <p:sp>
        <p:nvSpPr>
          <p:cNvPr id="14" name="Shape 12"/>
          <p:cNvSpPr/>
          <p:nvPr/>
        </p:nvSpPr>
        <p:spPr>
          <a:xfrm>
            <a:off x="6345936" y="228600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2231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Type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45936" y="25786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Care, Critical Access, Psychiatric …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70264" y="210312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0A2647"/>
          </a:solidFill>
          <a:ln/>
        </p:spPr>
      </p:sp>
      <p:sp>
        <p:nvSpPr>
          <p:cNvPr id="18" name="Shape 16"/>
          <p:cNvSpPr/>
          <p:nvPr/>
        </p:nvSpPr>
        <p:spPr>
          <a:xfrm>
            <a:off x="9153144" y="2286000"/>
            <a:ext cx="128016" cy="128016"/>
          </a:xfrm>
          <a:prstGeom prst="ellipse">
            <a:avLst/>
          </a:prstGeom>
          <a:solidFill>
            <a:srgbClr val="6A5ACD"/>
          </a:solidFill>
          <a:ln/>
        </p:spPr>
      </p:sp>
      <p:sp>
        <p:nvSpPr>
          <p:cNvPr id="19" name="Text 17"/>
          <p:cNvSpPr/>
          <p:nvPr/>
        </p:nvSpPr>
        <p:spPr>
          <a:xfrm>
            <a:off x="9372600" y="22311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53144" y="25786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context for comparison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Domain Charts, Benchmarked Nationally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3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Mortality (MORT)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7240" y="52120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hospital's death-rate measures compare to the national average.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0" y="3977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3F6FB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4206240"/>
            <a:ext cx="457200" cy="457200"/>
          </a:xfrm>
          <a:prstGeom prst="ellipse">
            <a:avLst/>
          </a:prstGeom>
          <a:solidFill>
            <a:srgbClr val="1FA98F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2628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Readmissions (READM)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26280" y="52120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patients return within 30 days versus benchmark.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3977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3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8275320" y="4206240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34" name="Text 32"/>
          <p:cNvSpPr/>
          <p:nvPr/>
        </p:nvSpPr>
        <p:spPr>
          <a:xfrm>
            <a:off x="82753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7532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275320" y="52120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and patient-safety event rates versus benchmark.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PERFORMANCE &amp; QUALITY ANALYTICS  |  CAPSTONE PROJECT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601200" y="654710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the Impact of Improvement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interactive controls let leadership stress-test improvement plans before committing resources.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0A264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4825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Threshold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23500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star rating that counts as “high-performing” for the scenario.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92024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0A2647"/>
          </a:solidFill>
          <a:ln/>
        </p:spPr>
      </p:sp>
      <p:sp>
        <p:nvSpPr>
          <p:cNvPr id="11" name="Shape 9"/>
          <p:cNvSpPr/>
          <p:nvPr/>
        </p:nvSpPr>
        <p:spPr>
          <a:xfrm>
            <a:off x="6281928" y="2167128"/>
            <a:ext cx="457200" cy="457200"/>
          </a:xfrm>
          <a:prstGeom prst="ellipse">
            <a:avLst/>
          </a:prstGeom>
          <a:solidFill>
            <a:srgbClr val="1FA98F"/>
          </a:solidFill>
          <a:ln/>
        </p:spPr>
      </p:sp>
      <p:sp>
        <p:nvSpPr>
          <p:cNvPr id="12" name="Text 10"/>
          <p:cNvSpPr/>
          <p:nvPr/>
        </p:nvSpPr>
        <p:spPr>
          <a:xfrm>
            <a:off x="628192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3720" y="204825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Improvement %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03720" y="23500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 across-the-board lift in performance measures.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drive three live outputs: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3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12464"/>
            <a:ext cx="146304" cy="146304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502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High-Performing Hospitals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hospitals expected to clear the rating threshold under the modeled improvement.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4747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3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6280" y="3712464"/>
            <a:ext cx="146304" cy="146304"/>
          </a:xfrm>
          <a:prstGeom prst="ellipse">
            <a:avLst/>
          </a:prstGeom>
          <a:solidFill>
            <a:srgbClr val="1FA98F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9502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Safety Performance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4526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 showing safety measures improving over the scenario.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47472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3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275320" y="3712464"/>
            <a:ext cx="146304" cy="14630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39502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vs. Worse Readmissions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75320" y="45262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of hospital rating against worse-than-expected readmission measures, to spot outliers.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PERFORMANCE &amp; QUALITY ANALYTICS  |  CAPSTONE PROJECT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601200" y="654710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ns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Hospitals.
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3D8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Healthier Communities.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4434840"/>
            <a:ext cx="2926080" cy="0"/>
          </a:xfrm>
          <a:prstGeom prst="line">
            <a:avLst/>
          </a:prstGeom>
          <a:noFill/>
          <a:ln w="15875">
            <a:solidFill>
              <a:srgbClr val="244B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49560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Annapoorna Madhu   |   Anusha Bhagvath   |   Sajal Srivastava   |   Srikanth K.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2026-09-11T11:22:19Z</dcterms:created>
  <dcterms:modified xsi:type="dcterms:W3CDTF">2026-09-11T11:22:19Z</dcterms:modified>
</cp:coreProperties>
</file>